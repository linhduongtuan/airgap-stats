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linh-Downloads-lab-management/4b62b479-d215-461f-b5d3-b3ed429dd201/scratchpad/pptx-airgap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7772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57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THẢO PHƯƠNG PHÁP NGHIÊN CỨU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24231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AirGap Stats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981048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thống kê với sự hỗ trợ của AI —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thật không bao giờ rời khỏi máy bạn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55768" y="4709160"/>
            <a:ext cx="1280160" cy="0"/>
          </a:xfrm>
          <a:prstGeom prst="line">
            <a:avLst/>
          </a:prstGeom>
          <a:noFill/>
          <a:ln w="12700">
            <a:solidFill>
              <a:srgbClr val="3A5F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Y tế Công cộng Hà Nội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528523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đi kèm: Cẩm Nang AirGap Stats  ·  github.com/linhduongtuan/airgap-stats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phần chính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54298" cy="3749040"/>
          </a:xfrm>
          <a:prstGeom prst="roundRect">
            <a:avLst>
              <a:gd name="adj" fmla="val 3177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6" name="Image 0" descr="/private/tmp/claude-502/-Users-linh-Downloads-lab-management/4b62b479-d215-461f-b5d3-b3ed429dd201/scratchpad/pptx-airgap/icons/targe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2569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Kiến Trúc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AirGap Stats tồn tại, và kiến trúc 5 giai đoạn bảo vệ dữ liệu thật như thế nào.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8698" y="2011680"/>
            <a:ext cx="3454298" cy="3749040"/>
          </a:xfrm>
          <a:prstGeom prst="roundRect">
            <a:avLst>
              <a:gd name="adj" fmla="val 3177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88738" y="2331720"/>
            <a:ext cx="822960" cy="822960"/>
          </a:xfrm>
          <a:prstGeom prst="ellipse">
            <a:avLst/>
          </a:prstGeom>
          <a:solidFill>
            <a:srgbClr val="F6E0D3"/>
          </a:solidFill>
          <a:ln/>
        </p:spPr>
      </p:sp>
      <p:pic>
        <p:nvPicPr>
          <p:cNvPr id="12" name="Image 1" descr="/private/tmp/claude-502/-Users-linh-Downloads-lab-management/4b62b479-d215-461f-b5d3-b3ed429dd201/scratchpad/pptx-airgap/icons/terminal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050" y="25420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5757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6E0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88738" y="33832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Sử Dụng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88738" y="402336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(R hoặc Python), quy trình một dự án, và ví dụ thực hành từ đầu đến cuối.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88757" y="2011680"/>
            <a:ext cx="3454298" cy="3749040"/>
          </a:xfrm>
          <a:prstGeom prst="roundRect">
            <a:avLst>
              <a:gd name="adj" fmla="val 3177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8797" y="2331720"/>
            <a:ext cx="822960" cy="822960"/>
          </a:xfrm>
          <a:prstGeom prst="ellipse">
            <a:avLst/>
          </a:prstGeom>
          <a:solidFill>
            <a:srgbClr val="E6E5F5"/>
          </a:solidFill>
          <a:ln/>
        </p:spPr>
      </p:sp>
      <p:pic>
        <p:nvPicPr>
          <p:cNvPr id="18" name="Image 2" descr="/private/tmp/claude-502/-Users-linh-Downloads-lab-management/4b62b479-d215-461f-b5d3-b3ed429dd201/scratchpad/pptx-airgap/icons/barChart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109" y="25420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65815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6E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508797" y="33832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 Phương Pháp Thống Kê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508797" y="402336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phương pháp/thuật toán — từ kiểm định Table 1 tới mô hình SEM — nghĩa là gì và đọc kết quả ra sao.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Kiến Trúc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81048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AirGap Stats tồn tại, và nó bảo vệ dữ liệu như thế nào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viết code phân tích rất tốt — nhưng dữ liệu nghiên cứu thì không thể chia sẻ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F6E0D3"/>
          </a:solidFill>
          <a:ln/>
        </p:spPr>
      </p:sp>
      <p:pic>
        <p:nvPicPr>
          <p:cNvPr id="5" name="Image 0" descr="/private/tmp/claude-502/-Users-linh-Downloads-lab-management/4b62b479-d215-461f-b5d3-b3ed429dd201/scratchpad/pptx-airgap/icons/database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nhạy cảm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20370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bệnh nhân, dữ liệu khảo sát thường chứa thông tin định danh hoặc nhạy cảm — không thể dán trực tiếp vào một công cụ AI.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F6E0D3"/>
          </a:solidFill>
          <a:ln/>
        </p:spPr>
      </p:sp>
      <p:pic>
        <p:nvPicPr>
          <p:cNvPr id="9" name="Image 1" descr="/private/tmp/claude-502/-Users-linh-Downloads-lab-management/4b62b479-d215-461f-b5d3-b3ed429dd201/scratchpad/pptx-airgap/icons/flag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9864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Ràng buộc đạo đức &amp; pháp lý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25526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đồng đạo đức nghiên cứu (IRB) và chính sách bảo mật của cơ quan hạn chế việc đưa dữ liệu ra ngoài hệ thống được kiểm soát.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F6E0D3"/>
          </a:solidFill>
          <a:ln/>
        </p:spPr>
      </p:sp>
      <p:pic>
        <p:nvPicPr>
          <p:cNvPr id="13" name="Image 2" descr="/private/tmp/claude-502/-Users-linh-Downloads-lab-management/4b62b479-d215-461f-b5d3-b3ed429dd201/scratchpad/pptx-airgap/icons/clipboard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95020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Nhưng phân tích chuẩn tốn thời gian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30682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đúng kiểm định, chẩn đoán mô hình đầy đủ (VIF, Cook's distance...), phân tích độ nhạy — đòi hỏi kiến thức và thời gian không phải ai cũng có sẵn.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17" name="Image 3" descr="/private/tmp/claude-502/-Users-linh-Downloads-lab-management/4b62b479-d215-461f-b5d3-b3ed429dd201/scratchpad/pptx-airgap/icons/targe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1663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00176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đặt ra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35838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sao tận dụng AI để viết code phân tích, mà không đánh đổi việc bảo vệ dữ liệu nghiên cứu?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AirGap Stats: cách ly AI khỏi dữ liệu thật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6E0D3"/>
          </a:solidFill>
          <a:ln w="15875">
            <a:solidFill>
              <a:srgbClr val="BB5C33"/>
            </a:solidFill>
            <a:prstDash val="solid"/>
          </a:ln>
        </p:spPr>
      </p:sp>
      <p:pic>
        <p:nvPicPr>
          <p:cNvPr id="5" name="Image 0" descr="/private/tmp/claude-502/-Users-linh-Downloads-lab-management/4b62b479-d215-461f-b5d3-b3ed429dd201/scratchpad/pptx-airgap/icons/lock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78608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thật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639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Nằm trên máy bạn,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folder AirGap Stats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2743200"/>
            <a:ext cx="914400" cy="914400"/>
          </a:xfrm>
          <a:prstGeom prst="ellipse">
            <a:avLst/>
          </a:prstGeom>
          <a:solidFill>
            <a:srgbClr val="FBEAE5"/>
          </a:solidFill>
          <a:ln w="19050">
            <a:solidFill>
              <a:srgbClr val="BB5C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34340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tới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228600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2F1EC"/>
          </a:solidFill>
          <a:ln w="15875">
            <a:solidFill>
              <a:srgbClr val="0E7C6B"/>
            </a:solidFill>
            <a:prstDash val="solid"/>
          </a:ln>
        </p:spPr>
      </p:sp>
      <p:pic>
        <p:nvPicPr>
          <p:cNvPr id="12" name="Image 1" descr="/private/tmp/claude-502/-Users-linh-Downloads-lab-management/4b62b479-d215-461f-b5d3-b3ed429dd201/scratchpad/pptx-airgap/icons/cpu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57860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Agent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35040" y="3639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Codex,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OpenCode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48920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0120" y="5001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đã duyệt + dữ liệu giả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6012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giá trị thật nào bên trong</a:t>
            </a:r>
            <a:endParaRPr lang="en-US" sz="1100" dirty="0"/>
          </a:p>
        </p:txBody>
      </p:sp>
      <p:pic>
        <p:nvPicPr>
          <p:cNvPr id="18" name="Image 2" descr="/private/tmp/claude-502/-Users-linh-Downloads-lab-management/4b62b479-d215-461f-b5d3-b3ed429dd201/scratchpad/pptx-airgap/icons/arrowRigh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5166360"/>
            <a:ext cx="45720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gọi lấy từ thuật ngữ bảo mật “air-gapped” — một hệ thống cách ly vật lý khỏi mạng. Ở đây, dữ liệu thật của bạn được cách ly khỏi AI theo đúng nghĩa đen, ở mọi giai đoạn.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mục tiêu thiết kế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6" name="Image 0" descr="/private/tmp/claude-502/-Users-linh-Downloads-lab-management/4b62b479-d215-461f-b5d3-b3ed429dd201/scratchpad/pptx-airgap/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591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tuyệt đối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319272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thật không bao giờ vào tay AI, ở bất kỳ giai đoạn nào.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96596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9490" y="2221992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11" name="Image 1" descr="/private/tmp/claude-502/-Users-linh-Downloads-lab-management/4b62b479-d215-461f-b5d3-b3ed429dd201/scratchpad/pptx-airgap/icons/cpu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650" y="23591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490" y="288036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hỗ trợ toàn bộ quy trình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9490" y="3319272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code, tự kiểm tra trên dữ liệu giả, trình bày kết quả cuối.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96596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4309" y="2221992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16" name="Image 2" descr="/private/tmp/claude-502/-Users-linh-Downloads-lab-management/4b62b479-d215-461f-b5d3-b3ed429dd201/scratchpad/pptx-airgap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9" y="23591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88036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hoá phương pháp thống kê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4309" y="3319272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Chẩn đoán mô hình &amp; phân tích độ nhạy tự động — không tuỳ ý từng người.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507992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21" name="Image 3" descr="/private/tmp/claude-502/-Users-linh-Downloads-lab-management/4b62b479-d215-461f-b5d3-b3ed429dd201/scratchpad/pptx-airgap/icons/gitBranch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4515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16636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 ngữ song hành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605272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và Python, cùng hợp đồng bảo mật, cùng công thức, cùng kết quả.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425196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09490" y="4507992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26" name="Image 4" descr="/private/tmp/claude-502/-Users-linh-Downloads-lab-management/4b62b479-d215-461f-b5d3-b3ed429dd201/scratchpad/pptx-airgap/icons/users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6650" y="464515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9490" y="516636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 tiếp cận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09490" y="5605272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biết lập trình; tài liệu và hướng dẫn đầy đủ bằng tiếng Việt.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giai đoạn, A → 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063240" cy="2651760"/>
          </a:xfrm>
          <a:prstGeom prst="roundRect">
            <a:avLst>
              <a:gd name="adj" fmla="val 4138"/>
            </a:avLst>
          </a:prstGeom>
          <a:solidFill>
            <a:srgbClr val="E2F1EC"/>
          </a:solidFill>
          <a:ln w="15875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A–C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Cổng bảo mật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85900" y="374904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FFFFFF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làm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pattern → duyệt → sinh dữ liệu giả</a:t>
            </a:r>
            <a:endParaRPr lang="en-US" sz="1150" dirty="0"/>
          </a:p>
        </p:txBody>
      </p:sp>
      <p:pic>
        <p:nvPicPr>
          <p:cNvPr id="10" name="Image 0" descr="/private/tmp/claude-502/-Users-linh-Downloads-lab-management/4b62b479-d215-461f-b5d3-b3ed429dd201/scratchpad/pptx-airgap/icons/arrowRigh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886" y="3502152"/>
            <a:ext cx="402336" cy="4023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64228" y="2377440"/>
            <a:ext cx="3063240" cy="2651760"/>
          </a:xfrm>
          <a:prstGeom prst="roundRect">
            <a:avLst>
              <a:gd name="adj" fmla="val 4138"/>
            </a:avLst>
          </a:prstGeom>
          <a:solidFill>
            <a:srgbClr val="E6E5F5"/>
          </a:solidFill>
          <a:ln w="15875">
            <a:solidFill>
              <a:srgbClr val="5552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4228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92828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01488" y="374904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FFFFFF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01488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92828" y="4206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&amp; tự kiểm tra script trên dữ liệu giả</a:t>
            </a:r>
            <a:endParaRPr lang="en-US" sz="1150" dirty="0"/>
          </a:p>
        </p:txBody>
      </p:sp>
      <p:pic>
        <p:nvPicPr>
          <p:cNvPr id="17" name="Image 1" descr="/private/tmp/claude-502/-Users-linh-Downloads-lab-management/4b62b479-d215-461f-b5d3-b3ed429dd201/scratchpad/pptx-airgap/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473" y="3502152"/>
            <a:ext cx="402336" cy="4023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579815" y="2377440"/>
            <a:ext cx="3063240" cy="2651760"/>
          </a:xfrm>
          <a:prstGeom prst="roundRect">
            <a:avLst>
              <a:gd name="adj" fmla="val 4138"/>
            </a:avLst>
          </a:prstGeom>
          <a:solidFill>
            <a:srgbClr val="F6E0D3"/>
          </a:solidFill>
          <a:ln w="15875">
            <a:solidFill>
              <a:srgbClr val="BB5C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79815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B5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8808415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thật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517075" y="374904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FFFFFF"/>
          </a:solidFill>
          <a:ln w="12700">
            <a:solidFill>
              <a:srgbClr val="BB5C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517075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+ AI làm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808415" y="4206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chạy trên dữ liệu thật, AI trình bày kết quả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duyệt (giữa A và B): bạn xác nhận file pattern không chứa nhãn nhạy cảm — trước khi AI được phép đọc nó.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NHIỀU LỚP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lớp bảo vệ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5" name="Image 0" descr="/private/tmp/claude-502/-Users-linh-Downloads-lab-management/4b62b479-d215-461f-b5d3-b3ed429dd201/scratchpad/pptx-airgap/icons/eyeOff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9280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Dữ liệu thật nằm ngoài folder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24942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chỉ hoạt động bên trong folder AirGap Stats — dữ liệu ngoài folder đó nằm ngoài tầm với, vô điều kiện. Lớp quan trọng nhất.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9" name="Image 1" descr="/private/tmp/claude-502/-Users-linh-Downloads-lab-management/4b62b479-d215-461f-b5d3-b3ed429dd201/scratchpad/pptx-airgap/icons/lo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4436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Lưới an toàn ở tầng công cụ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30098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dữ liệu lỡ bị copy vào một folder trong pack, cấu hình Claude Code có deny rule chặn đọc — không chỉ là lời nhắc AI tự giác.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13" name="Image 2" descr="/private/tmp/claude-502/-Users-linh-Downloads-lab-management/4b62b479-d215-461f-b5d3-b3ed429dd201/scratchpad/pptx-airgap/icons/gitBranch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605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99592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.gitignore chặn commit dữ liệu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35254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đuôi file dữ liệu phổ biến bị chặn khỏi git ngay từ đầu, phòng khi dùng git để backup/chia sẻ project.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17" name="Image 3" descr="/private/tmp/claude-502/-Users-linh-Downloads-lab-management/4b62b479-d215-461f-b5d3-b3ed429dd201/scratchpad/pptx-airgap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1208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0474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Cổng QA kiểm tra từng giai đoạn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40410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cho phép sang giai đoạn tiếp theo: pattern không chứa thống kê, bạn đã xác nhận đã duyệt, không có dữ liệu thật lọt vào repo.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HƯỚNG PHÂN TÍCH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Medical &amp; Track SEM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18608" cy="4434840"/>
          </a:xfrm>
          <a:prstGeom prst="roundRect">
            <a:avLst>
              <a:gd name="adj" fmla="val 2474"/>
            </a:avLst>
          </a:prstGeom>
          <a:solidFill>
            <a:srgbClr val="F6E0D3"/>
          </a:solidFill>
          <a:ln w="15875">
            <a:solidFill>
              <a:srgbClr val="BB5C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private/tmp/claude-502/-Users-linh-Downloads-lab-management/4b62b479-d215-461f-b5d3-b3ed429dd201/scratchpad/pptx-airgap/icons/activity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21408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8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18211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trực tiếp: sống/chết, biến chứng có/không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CHÍNH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400507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quy logistic thô + hiệu chỉnh nhiễu. Ví dụ: CRP → tử vong 30 ngày (crp-mortality)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57200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(KHI CẦN)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82803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Sống còn (Kaplan-Meier/Cox), PSM/IPTW, E-value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39496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CHO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65099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lâm sàng, y sinh, dịch tễ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24448" y="1828800"/>
            <a:ext cx="5318608" cy="4434840"/>
          </a:xfrm>
          <a:prstGeom prst="roundRect">
            <a:avLst>
              <a:gd name="adj" fmla="val 2474"/>
            </a:avLst>
          </a:prstGeom>
          <a:solidFill>
            <a:srgbClr val="E6E5F5"/>
          </a:solidFill>
          <a:ln w="15875">
            <a:solidFill>
              <a:srgbClr val="55529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private/tmp/claude-502/-Users-linh-Downloads-lab-management/4b62b479-d215-461f-b5d3-b3ed429dd201/scratchpad/pptx-airgap/icons/layers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84" y="223113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84568" y="2121408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598768" y="292608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98768" y="318211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gián tiếp qua construct — nhiều câu hỏi thang Likert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98768" y="374904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CHÍNH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98768" y="400507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(mô hình đo lường) + mô hình cấu trúc. Ví dụ: hài lòng công việc → kiệt sức → ý định nghỉ việc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98768" y="457200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(KHI CẦN)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98768" y="482803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bootstrap, đo lường bất biến giữa nhóm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98768" y="5394960"/>
            <a:ext cx="476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CHO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98768" y="5650992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tế công cộng, khoa học xã hội, khảo sát tổ chức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Sử Dụng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81048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đặt, quy trình một dự án, và ví dụ thực hành từ đầu đến cuối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đặt: chọn R hay Python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18608" cy="4023360"/>
          </a:xfrm>
          <a:prstGeom prst="roundRect">
            <a:avLst>
              <a:gd name="adj" fmla="val 2727"/>
            </a:avLst>
          </a:prstGeom>
          <a:solidFill>
            <a:srgbClr val="E2F1EC"/>
          </a:solidFill>
          <a:ln w="15875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+ RStudio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3347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 cho người không rành lập trình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3108960"/>
            <a:ext cx="435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R (bản 4.x) + RStudio miễn phí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435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Medical: 0 package cần cài thêm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663440"/>
            <a:ext cx="435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SEM: install.packages("lavaan") một lần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4448" y="1920240"/>
            <a:ext cx="5318608" cy="4023360"/>
          </a:xfrm>
          <a:prstGeom prst="roundRect">
            <a:avLst>
              <a:gd name="adj" fmla="val 2727"/>
            </a:avLst>
          </a:prstGeom>
          <a:solidFill>
            <a:srgbClr val="E6E5F5"/>
          </a:solidFill>
          <a:ln w="15875">
            <a:solidFill>
              <a:srgbClr val="5552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8768" y="21945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98768" y="263347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người đã quen dòng lệnh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98768" y="31546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8768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10248" y="3108960"/>
            <a:ext cx="435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Python 3.9+ và uv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98768" y="39319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8768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10248" y="3886200"/>
            <a:ext cx="435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venv &amp;&amp; uv pip install -e 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98768" y="47091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8768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10248" y="4663440"/>
            <a:ext cx="4358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semopy (bản Python của lavaan) cài sẵn trong bước trên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đường cho cùng kết quả, cùng mức độ an toàn — chỉ khác cách gõ lệnh và cách chọn file dữ liệu thật.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DỰ 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hỏi nghiên cứu = một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31375" cy="3931920"/>
          </a:xfrm>
          <a:prstGeom prst="roundRect">
            <a:avLst>
              <a:gd name="adj" fmla="val 2326"/>
            </a:avLst>
          </a:prstGeom>
          <a:solidFill>
            <a:srgbClr val="102E2A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projects/&lt;tên-project&gt;/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659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dr_workflow_state.yaml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274320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workflow — hỏi agent "đang ở bước nào?" bất kỳ lúc nào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65960" y="31775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317754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dataset_pattern.csv — bạn duyệt trước khi agent đọc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data_synthetic/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6118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giả — an toàn để AI đọc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65960" y="40462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404622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analysis_plan.yaml và các plan từng bước (SAP...)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6596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448056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.R hoặc .py — chạy được cả trên dữ liệu giả lẫn thật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65960" y="49149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outputs_synthetic/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91490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chạy thử trên dữ liệu giả — chỉ để kiểm tra code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65960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results_real/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534924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thật bạn dán + bảng kết quả cuối cùng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linh-Downloads-lab-management/4b62b479-d215-461f-b5d3-b3ed429dd201/scratchpad/pptx-airgap/icons/alertTriangle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74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2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VÀNG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31520" y="24231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BAO GIỜ copy dữ liệu thật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vào folder AirGap Stats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98168" y="41605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 để dữ liệu ở nơi bạn vẫn lưu. Khi script cần đọc dữ liệu thật, nó sẽ hỏi bạn chọn file (R: cửa sổ file.choose() giống mở Word/Excel) hoặc gõ đường dẫn tại chỗ (Python) — đường dẫn đó chỉ tồn tại trong phiên làm việc của bạn, không bao giờ được ghi vào bất kỳ file nào trong repo.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Bắt đầu một dự án — gõ cho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4415" cy="2286000"/>
          </a:xfrm>
          <a:prstGeom prst="roundRect">
            <a:avLst>
              <a:gd name="adj" fmla="val 4000"/>
            </a:avLst>
          </a:prstGeom>
          <a:solidFill>
            <a:srgbClr val="FBF3EC"/>
          </a:solidFill>
          <a:ln w="15875">
            <a:solidFill>
              <a:srgbClr val="BB5C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11094415" cy="365760"/>
          </a:xfrm>
          <a:prstGeom prst="roundRect">
            <a:avLst>
              <a:gd name="adj" fmla="val 25000"/>
            </a:avLst>
          </a:prstGeom>
          <a:solidFill>
            <a:srgbClr val="F6E0D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GÕ/DÁN CÂU NÀY CHO AI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106372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dr-workflow-orchestrator. Project: example-clinical.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Câu hỏi nghiên cứu: Phác đồ điều trị có liên quan tới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tử vong 30 ngày không?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Bắt đầu từ privacy gate.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sẽ tự xác định giai đoạn hiện tại, tạo project từ template, và viết script trích xuất pattern đầu tiên — bạn không cần nhớ cú pháp, chỉ cần mô tả câu hỏi nghiên cứu của mình.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THỰC HÀNH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A–C: Pattern → Duyệt → Dữ liệu giả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02E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TRONG RSTUDIO (hoặc terminal, nếu dùng Python)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10692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source("scripts/pattern_extract.R")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&lt;- read.csv(file.choose())  # chọn file dữ liệu thật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extract_pattern(original, output_csv = "pattern/dataset_pattern.csv")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3075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quan trọng nhất của cả quy trình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096512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pattern chỉ có: tên biến, kiểu, levels, % thiếu dữ liệu — không số dòng, không mean/min/max, không giá trị thật. Đây là toàn bộ những gì AI được biết. Bạn xác nhận đã duyệt trước khi AI được đọc file này.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duyệt, agent viết scripts/synthesize_data.R (hoặc .py) — chạy tương tự, sinh ra data_synthetic/synthetic_dataset.csv: cùng cấu trúc, khác toàn bộ giá trị.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THỰC HÀNH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D–E: Phân tích → Kết quả thật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E6E5F5"/>
          </a:solidFill>
          <a:ln/>
        </p:spPr>
      </p:sp>
      <p:pic>
        <p:nvPicPr>
          <p:cNvPr id="5" name="Image 0" descr="/private/tmp/claude-502/-Users-linh-Downloads-lab-management/4b62b479-d215-461f-b5d3-b3ed429dd201/scratchpad/pptx-airgap/icons/cpu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93392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AI tự làm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359152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desc.R/infer.R (hay .py), tự chạy thử trên dữ liệu giả, chỉ báo bạn khi xong hoặc khi cần xác nhận.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F6E0D3"/>
          </a:solidFill>
          <a:ln/>
        </p:spPr>
      </p:sp>
      <p:pic>
        <p:nvPicPr>
          <p:cNvPr id="9" name="Image 1" descr="/private/tmp/claude-502/-Users-linh-Downloads-lab-management/4b62b479-d215-461f-b5d3-b3ed429dd201/scratchpad/pptx-airgap/icons/checkCircle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44952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— Bạn chạy trên dữ liệu thật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410712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2 dòng settings đầu file (chọn file thật thay vì dữ liệu giả), chạy, dán kết quả cho agent.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E2F1EC"/>
          </a:solidFill>
          <a:ln/>
        </p:spPr>
      </p:sp>
      <p:pic>
        <p:nvPicPr>
          <p:cNvPr id="13" name="Image 2" descr="/private/tmp/claude-502/-Users-linh-Downloads-lab-management/4b62b479-d215-461f-b5d3-b3ed429dd201/scratchpad/pptx-airgap/icons/fileTex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519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96512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trình bày kết quả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462272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dr-05-present-results tạo bảng chuẩn công bố — mọi con số truy ngược được về đúng dòng bạn đã dán, không tự bịa.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2120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BF3EC"/>
          </a:solidFill>
          <a:ln w="15875">
            <a:solidFill>
              <a:srgbClr val="BB5C3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212080"/>
            <a:ext cx="11094415" cy="365760"/>
          </a:xfrm>
          <a:prstGeom prst="roundRect">
            <a:avLst>
              <a:gd name="adj" fmla="val 25000"/>
            </a:avLst>
          </a:prstGeom>
          <a:solidFill>
            <a:srgbClr val="F6E0D3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GÕ/DÁN CÂU NÀY CHO AI AGENT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" y="56692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dr-05-present-results. Đây là output thật từ RStudio: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[dán output ở đây]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SỰ CỐ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Những vấn đề thường gặp nhất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"không thấy" skill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2057400"/>
            <a:ext cx="6842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skills/dr-workflow-orchestrator/SKILL.md và làm theo — mọi agent đọc được file văn bản thường.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nhớ đang ở giai đoạn nào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944368"/>
            <a:ext cx="6842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thẳng: đọc dr_workflow_state.yaml — agent trả lời stage, QA status, bước tiếp theo.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313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báo thiếu lavaan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831336"/>
            <a:ext cx="6842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install.packages("lavaan") một lần trong RStudio.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1830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Python: ModuleNotFoundError: No module named 'tools'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718304"/>
            <a:ext cx="6842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chỉ chạy đúng khi ở đúng vị trí projects/&lt;tên&gt;/scripts/ — không copy ra chỗ khác.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6052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CSV tiếng Việt lỗi font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5605272"/>
            <a:ext cx="6842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dùng fileEncoding="UTF-8" (R) hoặc encoding="utf-8" (Python) — script có sẵn đã làm việc này.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 Các Phương Pháp Thống Kê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81048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phương pháp — từ kiểm định Table 1 tới mô hình SEM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PHƯƠNG PHÁP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phương pháp, theo đúng thứ tự bạn gặp trong quy trình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47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61540" y="1965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Table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6252" y="187452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3412" y="1947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99152" y="1965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3412" y="233172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quy logistic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3864" y="187452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1024" y="1947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36763" y="1965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61024" y="233172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Chẩn đoán mô hình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475" y="187452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8635" y="1947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74375" y="1965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98635" y="233172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(độ nhạy)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27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61540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61188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Sống còn &amp; PSM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6252" y="315468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2F1EC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3412" y="3227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99152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3412" y="361188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FDR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23864" y="315468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6E5F5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1024" y="3227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36763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61024" y="361188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SEM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61475" y="315468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6E5F5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98635" y="3227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774375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98635" y="361188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+ chỉ số fit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43484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6E5F5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507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261540" y="45262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" y="489204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AVE, CR, HTMT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6252" y="443484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6E5F5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3412" y="4507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99152" y="45262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3412" y="489204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23864" y="4434840"/>
            <a:ext cx="2581580" cy="1051560"/>
          </a:xfrm>
          <a:prstGeom prst="roundRect">
            <a:avLst>
              <a:gd name="adj" fmla="val 7826"/>
            </a:avLst>
          </a:prstGeom>
          <a:solidFill>
            <a:srgbClr val="E6E5F5"/>
          </a:solidFill>
          <a:ln w="12700">
            <a:solidFill>
              <a:srgbClr val="55529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1024" y="4507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936763" y="45262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61024" y="4892040"/>
            <a:ext cx="23072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bất biến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A–F: Track Medical  ·  Nhóm G–K: Track SEM  ·  mỗi nhóm giải thích chi tiết ở các trang tiếp theo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2F1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định so sánh nhóm (Table 1, dùng cho cả hai track)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Shapiro-Wilk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5851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chuẩn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216152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liên tục có phân phối gần chuẩn không?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1692783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0.05 → xem như đủ chuẩn, quyết định dùng kiểm định nào bên dưới.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07158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07158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98598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 t-test / ANOVA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1226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trung bình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480310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biến liên tục khác nhau giữa các nhóm? (khi đủ chuẩn)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956941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khác biệt có ý nghĩa. Không giả định phương sai bằng nhau, an toàn hơn bản cổ điển.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71316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71316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62756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/ Kruskal-Wallis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8683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thứ hạng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744468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trên, nhưng khi KHÔNG đủ chuẩn hoặc dữ liệu lệch.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221099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thứ hạng thay vì giá trị thô — bền hơn với ngoại lai.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35474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35474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6914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Chi-squared / Fisher's exact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650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tỷ lệ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5008626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phân loại có phân bố khác nhau giữa các nhóm?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5485257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Fisher's exact khi có ô kỳ vọng &lt; 5 trong bảng chéo, chi-squared khi ngược lại.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2F1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Medical — phân tích chính (D3–D4)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554480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Hồi quy logistic thô &amp; hiệu chỉnh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adjusted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chính có liên quan tới outcome nhị phân? Mô hình hiệu chỉnh thêm covariate để so sánh công bằng hơn.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&gt; 1: tăng nguy cơ. OR &lt; 1: bảo vệ. Khoảng tin cậy 95% không chứa 1 → có ý nghĩa thống kê.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mô hình luôn báo cáo cùng nhau — so sánh hiệu chỉnh thay đổi kết luận bao nhiêu.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2F1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Medical — chẩn đoán mô hình (tự động, D3–D4)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5851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cộng tuyến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216152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covariate có trùng lặp thông tin quá nhiều không?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1692783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&gt; 5 → cân nhắc bỏ bớt biến trùng lặp.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07158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07158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98598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Cook's distance / DFBETAs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1226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ảnh hưởng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480310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quan sát đơn lẻ nào đang kéo lệch kết quả không?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956941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ngưỡng (4/n, 2/√n) → xem lại, không tự động xoá.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71316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71316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62756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Box-Tidwell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8683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tuyến tính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744468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liên tục có quan hệ tuyến tính với log-odds không?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221099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nghi ngờ không tuyến tính, agent tự thử log-transform.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35474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35474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6914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Bootstrap-optimism (Harrell)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650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overfitting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5008626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 mô hình có bị 'lạc quan giả' không?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5485257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gần 1, calibration slope gần 1.0 → mô hình tổng quát hoá tốt.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2F1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Medical — phân tích độ nhạy (khi cần)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554480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Hồi quy logistic Firth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Firth 1993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outcome hiếm gặp hoặc nhóm gần như tách biệt hoàn toàn, hồi quy thường cho OR 'nổ' rất bất ổn.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OR thường với OR Firth: chênh lệch lớn → mô hình gốc không ổn định, ưu tiên đọc kết quả Firth.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viết thuật toán tay ở cả R và Python — đối chiếu khớp với R's logistf tới 4+ chữ số thập phân.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2F1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Medical — mở rộng: sống còn &amp; propensity score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Kaplan-Meier &amp; log-rank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5851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cong sống còn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216152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biến cố xảy ra, không chỉ có/không?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1692783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cong thấp hơn → biến cố sớm/nhiều hơn. p (log-rank) &lt; 0.05 → khác biệt có ý nghĩa.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07158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07158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98598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proportional hazards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1226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cơ tỷ lệ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480310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ảnh hưởng tới tốc độ xảy ra biến cố ra sao?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956941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&gt; 1: nguy cơ tăng, xảy ra sớm hơn. Đọc cùng khoảng tin cậy 95%, giống 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71316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71316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62756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 &amp; IPTW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8683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744468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hồi quy có đứng vững khi kiểm tra bằng cách khác không?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221099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cặp/gán trọng số theo xác suất điều trị — kết quả tương tự hồi quy là bằng chứng đáng tin hơn.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35474"/>
            <a:ext cx="11094415" cy="1099566"/>
          </a:xfrm>
          <a:prstGeom prst="roundRect">
            <a:avLst>
              <a:gd name="adj" fmla="val 6653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35474"/>
            <a:ext cx="82296" cy="1099566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6914"/>
            <a:ext cx="2331720" cy="60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E-value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650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VanderWeele &amp; Ding 2017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5008626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yếu tố nhiễu CHƯA ĐO ĐƯỢC phải mạnh cỡ nào mới xoá được kết quả?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5485257"/>
            <a:ext cx="8122615" cy="47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lớn càng khó bị 'lung lay'. Đối chiếu khớp ví dụ gốc: RR=2 → E-value=3.4142.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2F1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soát sai số khi so sánh nhiều lần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554480"/>
          </a:xfrm>
          <a:prstGeom prst="round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Benjamini-Hochberg (FDR)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chỉnh so sánh bội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nhiều giả thuyết cùng lúc làm tăng xác suất có kết quả 'có ý nghĩa' chỉ do ngẫu nhiên.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xây dựng sẵn nhưng chưa dự án mẫu nào cần — cả 4 project chỉ khai báo 1 so sánh chính.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E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SEM — độ tin cậy thang đo (trước D3)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41732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Cronbach's alpha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câu hỏi trong cùng construct có nhất quán với nhau không?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766060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gần 1 càng tốt: ≥0.70 chấp nhận được, ≥0.80 tốt.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39312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639312"/>
            <a:ext cx="82296" cy="141732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30752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McDonald's omega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3767328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alpha, nhưng chính xác hơn khi các câu hỏi đóng góp không đều nhau vào construct.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4347972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thang đọc với alpha — nếu chênh lệch nhiều, ưu tiên tin omega hơn.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E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SEM — mô hình đo lường (D3)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41732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CFA (DWLS / WLSMV)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 Factor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câu hỏi khảo sát có thực sự cùng đo một construct trừu tượng không?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766060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DWLS (Python)/WLSMV (R) vì thang Likert là dữ liệu thứ bậc, không phải liên tục.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39312"/>
            <a:ext cx="82296" cy="141732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30752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số fit: CFI, TLI, RMSEA, SRMR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767328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có khớp với dữ liệu thực tế không?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347972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CFI/TLI &gt; 0.90–0.95 tốt. RMSEA &lt; 0.08, SRMR &lt; 0.08 chấp nhận được. Luôn đọc cùng nhau.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E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SEM — giá trị hội tụ &amp; phân biệt (D3)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41732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 &amp; Composite Reliability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Fornell &amp; Larcker 1981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có thực sự đo đúng construct nhiều hơn đo nhiễu không?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766060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 ≥ 0.50 và CR ≥ 0.70 là hai ngưỡng kinh điển nhất, luôn báo cáo cùng nhau.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39312"/>
            <a:ext cx="82296" cy="141732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30752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6725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Henseler et al. 2015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3767328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construct khác nhau có thực sự tách biệt, hay đang đo trùng lặp?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4347972"/>
            <a:ext cx="812261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HTMT &lt; 0.85 (chặt) hoặc &lt; 0.90 (lỏng) → đủ tách biệt để coi là hai khái niệm khác nhau.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E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J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SEM — mô hình cấu trúc (D4)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55448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bootstrap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gián tiếp / trực tiếp / tổng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ảnh hưởng outcome trực tiếp, hay gián tiếp qua một biến trung gian, hay cả hai?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tin cậy 95% (bootstrap 200 lần) của hiệu ứng gián tiếp không chứa 0 → trung gian hoá có ý nghĩa.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hồi quy hai bước qua điểm construct. R (lavaan): ước lượng trực tiếp một bước — cùng loại kết quả, khác con đường tính.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6E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11480"/>
            <a:ext cx="9494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SEM — đo lường bất biến (nếu so sánh nhóm)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FF4F2"/>
          </a:solidFill>
          <a:ln w="12700">
            <a:solidFill>
              <a:srgbClr val="D8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554480"/>
          </a:xfrm>
          <a:prstGeom prst="roundRect">
            <a:avLst/>
          </a:prstGeom>
          <a:solidFill>
            <a:srgbClr val="55529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5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lường bất biến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invariance — configural &amp; metric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185416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so sánh điểm construct giữa 2 nhóm, thang đo có đo cùng một thứ theo cùng một cách ở cả hai nhóm không?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81226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55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(kiểm định chi-square khác biệt) ≥ 0.05 → an toàn để so sánh điểm construct giữa hai nhóm.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điều cần nhớ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85800" cy="685800"/>
          </a:xfrm>
          <a:prstGeom prst="ellipse">
            <a:avLst/>
          </a:prstGeom>
          <a:solidFill>
            <a:srgbClr val="E2F1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993392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là kiến trúc, không phải lời hứa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423160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thật không bao giờ vào tay AI — được thực thi bởi cấu trúc quy trình và công cụ, không phải chỉ dựa vào ý thức tự giác.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rgbClr val="E2F1E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3319272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viết code, bạn chạy trên dữ liệu thật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749040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tự kiểm tra mọi thứ trên dữ liệu giả trước; chỉ bạn mới chạm vào dữ liệu thật, tại máy của chính bạn.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rgbClr val="E2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4645152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con số đều có ý nghĩa cụ thể, tra cứu được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5074920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phương pháp thống kê đều được giải thích — biết đọc kết quả đúng, không chỉ chạy được code.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linh-Downloads-lab-management/4b62b479-d215-461f-b5d3-b3ed429dd201/scratchpad/pptx-airgap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&amp; Liên kết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981048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Cẩm Nang AirGap Stats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81048" y="3182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chi tiết + Phần IX giải thích phương pháp thống kê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981048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INSTALL.md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81048" y="4005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cài đặt nhanh, tiếng Việt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81048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github.com/linhduongtuan/airgap-stats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81048" y="4828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mã nguồn, ví dụ mẫu, tài liệu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— Hỏi &amp; Đáp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 Stats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AirGap Stats — Hội thảo phương pháp nghiên cứu</dc:title>
  <dc:subject>PptxGenJS Presentation</dc:subject>
  <dc:creator>AirGap Stats</dc:creator>
  <cp:lastModifiedBy>AirGap Stats</cp:lastModifiedBy>
  <cp:revision>1</cp:revision>
  <dcterms:created xsi:type="dcterms:W3CDTF">2026-08-16T09:35:36Z</dcterms:created>
  <dcterms:modified xsi:type="dcterms:W3CDTF">2026-08-16T09:35:36Z</dcterms:modified>
</cp:coreProperties>
</file>